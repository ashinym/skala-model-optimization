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a33f241ed04262" /><Relationship Type="http://schemas.openxmlformats.org/officeDocument/2006/relationships/extended-properties" Target="/docProps/app.xml" Id="R1c77d57fe2b24434" /><Relationship Type="http://schemas.openxmlformats.org/officeDocument/2006/relationships/officeDocument" Target="/ppt/presentation.xml" Id="R8dc8effcb32d410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81ce0317134b5b"/>
  </p:sldMasterIdLst>
  <p:notesMasterIdLst>
    <p:notesMasterId xmlns:r="http://schemas.openxmlformats.org/officeDocument/2006/relationships" r:id="R2a4b2172c6ce45d9"/>
  </p:notesMasterIdLst>
  <p:sldIdLst>
    <p:sldId xmlns:r="http://schemas.openxmlformats.org/officeDocument/2006/relationships" id="256" r:id="Ra09b15a8080f431e"/>
    <p:sldId xmlns:r="http://schemas.openxmlformats.org/officeDocument/2006/relationships" id="257" r:id="R8efa9c6deb4c4c01"/>
    <p:sldId xmlns:r="http://schemas.openxmlformats.org/officeDocument/2006/relationships" id="258" r:id="R7cc063ac8c604af6"/>
    <p:sldId xmlns:r="http://schemas.openxmlformats.org/officeDocument/2006/relationships" id="259" r:id="R7d916a30d2ee4693"/>
    <p:sldId xmlns:r="http://schemas.openxmlformats.org/officeDocument/2006/relationships" id="260" r:id="R3fd03df529bc48eb"/>
    <p:sldId xmlns:r="http://schemas.openxmlformats.org/officeDocument/2006/relationships" id="261" r:id="R65a68ef7db09466f"/>
    <p:sldId xmlns:r="http://schemas.openxmlformats.org/officeDocument/2006/relationships" id="262" r:id="R5f09264df1c149aa"/>
    <p:sldId xmlns:r="http://schemas.openxmlformats.org/officeDocument/2006/relationships" id="263" r:id="R47d49988bd9c4cc8"/>
    <p:sldId xmlns:r="http://schemas.openxmlformats.org/officeDocument/2006/relationships" id="264" r:id="Rd6db719cf1224caa"/>
    <p:sldId xmlns:r="http://schemas.openxmlformats.org/officeDocument/2006/relationships" id="265" r:id="Rf170b1bbfe504f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3fa7c94ab724c41" /><Relationship Type="http://schemas.openxmlformats.org/officeDocument/2006/relationships/slideMaster" Target="/ppt/slideMasters/slideMaster1.xml" Id="R7e81ce0317134b5b" /><Relationship Type="http://schemas.openxmlformats.org/officeDocument/2006/relationships/notesMaster" Target="/ppt/notesMasters/notesMaster1.xml" Id="R2a4b2172c6ce45d9" /><Relationship Type="http://schemas.openxmlformats.org/officeDocument/2006/relationships/presProps" Target="/ppt/presProps.xml" Id="R256ae983e21749dc" /><Relationship Type="http://schemas.openxmlformats.org/officeDocument/2006/relationships/tableStyles" Target="/ppt/tableStyles.xml" Id="Rf41529a9331f4d4c" /><Relationship Type="http://schemas.openxmlformats.org/officeDocument/2006/relationships/slide" Target="/ppt/slides/slide1.xml" Id="Ra09b15a8080f431e" /><Relationship Type="http://schemas.openxmlformats.org/officeDocument/2006/relationships/slide" Target="/ppt/slides/slide2.xml" Id="R8efa9c6deb4c4c01" /><Relationship Type="http://schemas.openxmlformats.org/officeDocument/2006/relationships/slide" Target="/ppt/slides/slide3.xml" Id="R7cc063ac8c604af6" /><Relationship Type="http://schemas.openxmlformats.org/officeDocument/2006/relationships/slide" Target="/ppt/slides/slide4.xml" Id="R7d916a30d2ee4693" /><Relationship Type="http://schemas.openxmlformats.org/officeDocument/2006/relationships/slide" Target="/ppt/slides/slide5.xml" Id="R3fd03df529bc48eb" /><Relationship Type="http://schemas.openxmlformats.org/officeDocument/2006/relationships/slide" Target="/ppt/slides/slide6.xml" Id="R65a68ef7db09466f" /><Relationship Type="http://schemas.openxmlformats.org/officeDocument/2006/relationships/slide" Target="/ppt/slides/slide7.xml" Id="R5f09264df1c149aa" /><Relationship Type="http://schemas.openxmlformats.org/officeDocument/2006/relationships/slide" Target="/ppt/slides/slide8.xml" Id="R47d49988bd9c4cc8" /><Relationship Type="http://schemas.openxmlformats.org/officeDocument/2006/relationships/slide" Target="/ppt/slides/slide9.xml" Id="Rd6db719cf1224caa" /><Relationship Type="http://schemas.openxmlformats.org/officeDocument/2006/relationships/slide" Target="/ppt/slides/slide10.xml" Id="Rf170b1bbfe504f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14700df4554b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4c43f5ee4b94a71" /><Relationship Type="http://schemas.openxmlformats.org/officeDocument/2006/relationships/notesMaster" Target="/ppt/notesMasters/notesMaster1.xml" Id="R35275ea0e3ac4f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7083144c914e1f" /><Relationship Type="http://schemas.openxmlformats.org/officeDocument/2006/relationships/notesMaster" Target="/ppt/notesMasters/notesMaster1.xml" Id="Rce9a64defc05416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e84c8c67b44e0a" /><Relationship Type="http://schemas.openxmlformats.org/officeDocument/2006/relationships/notesMaster" Target="/ppt/notesMasters/notesMaster1.xml" Id="R07572f76ce5647a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f6498527be64821" /><Relationship Type="http://schemas.openxmlformats.org/officeDocument/2006/relationships/notesMaster" Target="/ppt/notesMasters/notesMaster1.xml" Id="Rf6b3823cf9004fd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a2f54db47bb41f0" /><Relationship Type="http://schemas.openxmlformats.org/officeDocument/2006/relationships/notesMaster" Target="/ppt/notesMasters/notesMaster1.xml" Id="Rd6e53247d2a7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3adad722c141e1" /><Relationship Type="http://schemas.openxmlformats.org/officeDocument/2006/relationships/notesMaster" Target="/ppt/notesMasters/notesMaster1.xml" Id="R9c47c925068943a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87bc030182f4f4f" /><Relationship Type="http://schemas.openxmlformats.org/officeDocument/2006/relationships/notesMaster" Target="/ppt/notesMasters/notesMaster1.xml" Id="R877643e3b1ab4f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4f290a51434f49" /><Relationship Type="http://schemas.openxmlformats.org/officeDocument/2006/relationships/notesMaster" Target="/ppt/notesMasters/notesMaster1.xml" Id="R660f2b4413af416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50312c64fd449fd" /><Relationship Type="http://schemas.openxmlformats.org/officeDocument/2006/relationships/notesMaster" Target="/ppt/notesMasters/notesMaster1.xml" Id="R8039ceb2a7794ff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d308d74f28a4458" /><Relationship Type="http://schemas.openxmlformats.org/officeDocument/2006/relationships/notesMaster" Target="/ppt/notesMasters/notesMaster1.xml" Id="Rdacb7c52923b479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발표 시작: 제한된 마케팅 예산으로 이탈 가능성이 높은 고객을 선별하는 문제로 정의했습니다.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과제의 평균 AUC는 필수로 기록하되, 실제 마케팅 의사결정에서는 상위 10% 고객의 Lift와 Precision을 함께 보았습니다.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단순 날짜 자체보다 계좌 보유 기간처럼 비즈니스 의미가 있는 파생변수를 사용했습니다. 데이터 건수와 Target은 변경하지 않았습니다.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데이터 누수를 막기 위해 먼저 분할하고, Train 데이터로만 중앙값과 인코딩 구조를 학습했습니다.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모든 기법을 다 적용하는 것이 목표가 아니라, 어떤 조합이 비즈니스 목적과 평균 AUC에 적합한지 비교했습니다.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결과값은 실제 실행 결과입니다. XGBoost는 Validation AUC 0.8718, Test AUC 0.8456으로 평균 AUC 0.8587을 기록했습니다.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XGBoost가 무조건 정답이라서가 아니라, 이번 비즈니스 목적에 맞는 순위화 성능을 보였고 약점을 관리할 방법이 있었기 때문에 선택했습니다.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예측확률을 0.5로 자르는 것만이 운영의 정답은 아닙니다. 마케팅 예산에 맞춰 상위 10%처럼 대상 비율을 정할 수 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SHAP은 최종 모델에 적용합니다. 빨간색은 이탈확률을 높이는 방향, 파란색은 낮추는 방향으로 해석합니다.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마무리: 모델 성능뿐 아니라 실제 활용과 재현성까지 고려한 모델 개발이었다고 강조합니다.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b14971b47c4e4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88ceb800ab40c4" /><Relationship Type="http://schemas.openxmlformats.org/officeDocument/2006/relationships/slideLayout" Target="/ppt/slideLayouts/slideLayout1.xml" Id="Ra24cdb1ce7e747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24cdb1ce7e747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600a98c8ca4a36" /><Relationship Type="http://schemas.openxmlformats.org/officeDocument/2006/relationships/notesSlide" Target="/ppt/notesSlides/notesSlide1.xml" Id="Rf1decfd815354b4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f37fe0ecd492f" /><Relationship Type="http://schemas.openxmlformats.org/officeDocument/2006/relationships/notesSlide" Target="/ppt/notesSlides/notesSlide2.xml" Id="R3677f40be4b044a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9f4738f864236" /><Relationship Type="http://schemas.openxmlformats.org/officeDocument/2006/relationships/notesSlide" Target="/ppt/notesSlides/notesSlide3.xml" Id="R9bd00e0d31504d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112f8e0a144c78" /><Relationship Type="http://schemas.openxmlformats.org/officeDocument/2006/relationships/notesSlide" Target="/ppt/notesSlides/notesSlide4.xml" Id="R5ec46d2bb798453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33978e27574ffb" /><Relationship Type="http://schemas.openxmlformats.org/officeDocument/2006/relationships/notesSlide" Target="/ppt/notesSlides/notesSlide5.xml" Id="R80f51a937de7460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1463a67a704bd5" /><Relationship Type="http://schemas.openxmlformats.org/officeDocument/2006/relationships/notesSlide" Target="/ppt/notesSlides/notesSlide6.xml" Id="R5201d2406cd44c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620152d6bf4f63" /><Relationship Type="http://schemas.openxmlformats.org/officeDocument/2006/relationships/notesSlide" Target="/ppt/notesSlides/notesSlide7.xml" Id="R5eb039bd615e4d0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205731a75548b9" /><Relationship Type="http://schemas.openxmlformats.org/officeDocument/2006/relationships/notesSlide" Target="/ppt/notesSlides/notesSlide8.xml" Id="Raee99a03c65b4d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2845dfe8e646f1" /><Relationship Type="http://schemas.openxmlformats.org/officeDocument/2006/relationships/notesSlide" Target="/ppt/notesSlides/notesSlide9.xml" Id="R8b7fc55d174d47d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3072d518bc47d7" /><Relationship Type="http://schemas.openxmlformats.org/officeDocument/2006/relationships/notesSlide" Target="/ppt/notesSlides/notesSlide10.xml" Id="Rad248f7743e942a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A5339B-BB84-4318-A9CA-5F7B96BA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9525">
            <a:solidFill>
              <a:srgbClr val="F7F9FC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F5FB01-5A5B-4B86-A796-C0D02AB11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30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330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은행 고객 이탈 예측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91B93A-1358-42D4-84C0-4B812E45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비즈니스 목표에서 모델 선정과 SHAP 해석까지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B8FFA8-EC34-45A0-91FC-C605A375B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107442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F8A467-9DFA-4590-A167-63E2D843D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381375"/>
            <a:ext cx="666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종합실습 발표자료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3AEE95-4304-45C0-96A2-C375B0D7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10000"/>
            <a:ext cx="666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2026.09.11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7DA005-1A41-45DA-8DF5-316880B3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3333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7D31"/>
          </a:solidFill>
          <a:ln xmlns:a="http://schemas.openxmlformats.org/drawingml/2006/main" w="9525">
            <a:solidFill>
              <a:srgbClr val="ED7D3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9931DF-A6FA-401B-80ED-4A20C2994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2440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상위 10% 이탈 위험 고객을 선별</a:t>
            </a:r>
          </a:p>
        </p:txBody>
      </p:sp>
    </p:spTree>
    <p:extLst>
      <p:ext uri="{BB962C8B-B14F-4D97-AF65-F5344CB8AC3E}">
        <p14:creationId xmlns:p14="http://schemas.microsoft.com/office/powerpoint/2010/main" val="104086457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F52C6-0BEA-40C3-BAB9-279A8D30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1. 문제 정의: 마케팅 목적에서 출발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207CF0-F5BA-4137-ADDF-D2C5DF7A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모델보다 먼저 “누구에게 어떤 행동을 할 것인가”를 정했습니다.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1473C6-C389-4AF3-8037-0FBCEE89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67BC34-D92D-427A-9CCE-CB702233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14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비즈니스 상황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534D6D-5B04-42E6-996B-A815BF783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095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모든 고객에게 캠페인을 보낼 수 없으므로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이탈 가능성이 높은 상위 고객만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우선 타깃으로 선정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6B9628-F992-456F-804E-CE1DD9A67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428750"/>
            <a:ext cx="4953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B18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A22D1-6BE9-49C2-BBD8-EDDCE294F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145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D7D3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D7D31"/>
                </a:solidFill>
                <a:latin typeface="Helvetica"/>
                <a:ea typeface="Helvetica"/>
                <a:cs typeface="Helvetica"/>
              </a:rPr>
              <a:t>핵심 가치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1DCC7F-5E24-4FC9-9F50-8E5EDD5D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21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제한된 예산에서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21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이탈방지 캠페인의 효율을</a:t>
            </a:r>
          </a:p>
          <a:p xmlns:a="http://schemas.openxmlformats.org/drawingml/2006/main">
            <a:pPr algn="l">
              <a:buNone/>
              <a:defRPr sz="21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21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높이는 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593A3E-137D-4380-9187-8B0AF2037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53000"/>
            <a:ext cx="1000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과제 기준: Validation/Test 평균 AUC</a:t>
            </a:r>
          </a:p>
          <a:p xmlns:a="http://schemas.openxmlformats.org/drawingml/2006/main">
            <a:pPr algn="l">
              <a:buNone/>
              <a:defRPr sz="150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마케팅 보조 기준: Top 10% Lift, Precision, Recall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1E3A9F-CD68-4A55-B44D-E526F1384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은행 고객 이탈 예측 모델 개발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E3162D-C868-4894-80B1-2028EC5C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0292943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D434C02-F7C0-4432-AECE-B74A8AF70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2. 데이터와 Feature 설계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FAF49F-330B-435F-A181-D6DD034B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학습 데이터와 운영 예측 데이터를 분리하고, 고객 관계를 나타내는 변수를 추가했습니다.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E0DBE5-E4F2-4FD1-B8C1-C3DCA84AF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81125"/>
            <a:ext cx="10382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7FB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3C8889-0D46-492D-B9FD-2EC46F54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43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학습 데이터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28114-9C02-4FA1-A9B9-E3588052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15430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bank_churn_train.csv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4C806-86DF-4A1B-9BF8-EC0FB434E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543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2,100건 / Exited 포함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FE5256-65D9-423D-9387-2E0F0F036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52625"/>
            <a:ext cx="10382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3126A-FE4C-44F3-ABAF-0B511C84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예측 데이터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B8711-9450-4FA9-A3D1-8F75EB2C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145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bank_churn_new.csv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F77C3-CCC5-46D5-A60B-C579E993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114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900건 / Exited 없음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3669A5-5A2B-4711-A4C5-1174957E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10382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E2BC0-7759-41AB-A841-B530A5DE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86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Target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70C861-2B2B-45EC-8C52-E58181A8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Exited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C4AC34-20EB-4C5C-AAAB-1AE0B14B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686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1=이탈, 0=유지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F3F5FF-5C40-4173-BB8D-D7408CA19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95625"/>
            <a:ext cx="10382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4E605-14A0-428B-9282-8479A28A1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57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제외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195D7C-95B8-4AD5-9BDB-EB49797C4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2575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CustomerId, Surname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A310A3-29D9-4D74-8666-32D77774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257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ID는 결과 연결용으로만 보관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A4E40C-3D5B-4B1E-B5AB-E1DE142D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67125"/>
            <a:ext cx="10382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2B6314-C06D-4253-986D-9D931904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8290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파생변수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235B6D-F05A-45F8-ACF3-3E94E2F7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290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accountDuration_days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AA825E7-FE7D-47E3-A69D-8F9D0BA1C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8290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기준일 - 계좌개설일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0C6162F-CA9B-4FE4-A0FD-42EDF4EC7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38625"/>
            <a:ext cx="103822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90B990-B7A6-4776-976A-511F8247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0055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파생변수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4D3A258-8D52-4763-9960-30384328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400550"/>
            <a:ext cx="276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salaryPerAge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43AF9E-3BF3-40D4-9776-9DF0EE96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40055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EstimatedSalary / 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BA4240-9EF1-4E5B-AFEE-827434C5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은행 고객 이탈 예측 모델 개발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80033F-79C5-4F4A-8898-B3B6441F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14480818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9E14FB-0A15-447B-8EDE-AD8422E9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3. 재현 가능한 모델 개발 파이프라인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0AB96-46DF-4103-86AC-88AA89AD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모든 실험은 같은 분할과 전처리 흐름을 사용했습니다.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082CD9-3340-467F-80F0-C4E2D22F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002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E7F4D-9D6A-4F30-BA01-2230C1C4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666875"/>
            <a:ext cx="476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3CCE0D-8463-421A-9F24-15DD1F411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17240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88BFA9-7404-4704-B5C9-51F0E675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57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데이터 분할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D25BC-3045-49F1-BA19-2005A5E2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Train 60%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Valid 20%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Test 20%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14960C-1012-4CF0-98EE-94C579F8A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2781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E57349-6C82-4301-8743-5041BCE4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002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9BEAEC-7BA6-48C3-A874-997F8DD3F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666875"/>
            <a:ext cx="476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38F6D0-2C13-4990-8DE5-1E6D05EF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7240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F90EEE-B150-44D1-88D6-6AB3366A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57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전처리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ED18D0-202C-41C2-8853-49D8480B3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0480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결측값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One-Hot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Scaling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0EFCE0-749B-4888-B787-523C44064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81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BD62C9-88B5-402D-B8DE-19BDD6AE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0002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F42912-2958-40FD-B1C9-3E7ACCB66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666875"/>
            <a:ext cx="476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5EB8933-8389-445F-B9A2-4C0CCDCC2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7240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2FE346-2852-47EC-804A-7FB92AAC7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257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모델 학습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C5DF15-ABDB-4328-AC1F-BBA66F314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480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RF / XGBoost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Random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297273-5EF3-478E-9736-DA71DEB8B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781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B25750-5E2F-4C03-85CD-BD124BDC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E6D4D0-9467-4F2E-8FF1-CBBE746DF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666875"/>
            <a:ext cx="476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7D31"/>
          </a:solidFill>
          <a:ln xmlns:a="http://schemas.openxmlformats.org/drawingml/2006/main" w="9525">
            <a:solidFill>
              <a:srgbClr val="ED7D31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0081614-E7A3-417A-8389-A3362B56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240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DDE37D9-8896-46B9-9B02-F91FC1EB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57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검증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9D0B16-76C5-487F-8E6C-0307598B7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0480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AUC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F1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Top 10% Lift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F022B0-FC41-404D-8398-B76CFFEDE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781300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582664-85E3-497D-ADCC-449A54DF2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000250"/>
            <a:ext cx="1952625" cy="219075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E8EA64D-A9A2-4778-A7C5-2FB1DE8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666875"/>
            <a:ext cx="476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FCD11E-D180-43F1-8415-91F16725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724025"/>
            <a:ext cx="47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1E36B6C-9ED8-4B97-AD4A-C46B751BD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257175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운영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3D17B40-DD62-4C2B-8CEF-299580D51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048000"/>
            <a:ext cx="14763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Pipeline 저장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신규 Score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45EAEB-778F-4B48-A01F-F1BC3B6A3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1047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핵심 원칙: 분할 후 Train 기준으로 전처리 fit → Validation/Test에는 transform만 적용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DE794C-F7EB-4700-BD31-847F8378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은행 고객 이탈 예측 모델 개발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8F80BC-DD9C-4A31-A934-9A377132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05319985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78865A2-31C8-4703-9C6A-8428CC3B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4. 실험 조합: 수치와 비즈니스를 함께 확인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C04969-DDD8-4EE8-AA76-DDFD56438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기본 모델에서 시작해 Feature, 모델, 최적화 조합을 단계적으로 비교했습니다.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B639CE-AF8D-4BE7-9169-FEA29B5AF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381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893E8-A38F-4C53-AFDB-CE2C0001D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A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기본 기준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F9DAEA-CAF0-4AC9-9935-01904597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RF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기본 전처리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380733-F46C-43F4-96C0-5DA73D23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19250"/>
            <a:ext cx="2381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D6B5E7-C7D1-4EDD-9E1E-B8DC80E4B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18573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B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고객 관계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D1FDBE-5882-4F87-86F4-32B6A0ECC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RF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+ 파생변수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3661B-CB42-4617-903F-C4596F542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19250"/>
            <a:ext cx="2381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D7D3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B3C663-6843-45B0-A98B-DA01CFBD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8573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ED7D31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D7D31"/>
                </a:solidFill>
                <a:latin typeface="Helvetica"/>
                <a:ea typeface="Helvetica"/>
                <a:cs typeface="Helvetica"/>
              </a:rPr>
              <a:t>C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ED7D31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D7D31"/>
                </a:solidFill>
                <a:latin typeface="Helvetica"/>
                <a:ea typeface="Helvetica"/>
                <a:cs typeface="Helvetica"/>
              </a:rPr>
              <a:t>성능 후보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A9510D-3BB4-4983-A787-844229E5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XGBoost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+ 파생변수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A5CCC4-E0E0-483C-8E36-70F5E3F76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19250"/>
            <a:ext cx="2381250" cy="1666875"/>
          </a:xfrm>
          <a:prstGeom xmlns:a="http://schemas.openxmlformats.org/drawingml/2006/main" prst="roundRect">
            <a:avLst>
              <a:gd name="adj" fmla="val 4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1DA15B-5C60-485B-B7B1-4B5DC3AF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857375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D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자동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4DDA51-7B9D-43B2-AA39-544EF92CF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25717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RF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+ Random Search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50A440-3717-4B88-9945-1D9BE1D7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1143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ED7D31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ED7D31"/>
                </a:solidFill>
                <a:latin typeface="Helvetica"/>
                <a:ea typeface="Helvetica"/>
                <a:cs typeface="Helvetica"/>
              </a:rPr>
              <a:t>Primary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36375C-3F0F-4766-B0CB-079078B3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05250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Validation/Test 평균 AUC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AFD472-44FD-436C-B715-A155E0143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3387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2F8F9D"/>
                </a:solidFill>
                <a:latin typeface="Helvetica"/>
                <a:ea typeface="Helvetica"/>
                <a:cs typeface="Helvetica"/>
              </a:defRPr>
            </a:pPr>
            <a:r>
              <a:rPr sz="1200" b="1">
                <a:solidFill>
                  <a:srgbClr val="2F8F9D"/>
                </a:solidFill>
                <a:latin typeface="Helvetica"/>
                <a:ea typeface="Helvetica"/>
                <a:cs typeface="Helvetica"/>
              </a:rPr>
              <a:t>Supplementary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571459-BF14-4325-B61C-CC52AF98B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333875"/>
            <a:ext cx="400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Top 10% Lift · Precision · Recall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1CDAC3-A040-4298-A3D4-20F2CC483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38750"/>
            <a:ext cx="952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선정 원칙: Validation으로 선택하고 Test는 최종 확인에 사용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970454-DE8D-4098-A6F5-EA5E1937B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은행 고객 이탈 예측 모델 개발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49BEE0-B86E-4668-B711-99D36CE9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3669072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9A6F2EC-6A3F-4A6E-ACDC-10889ACBC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5. 결과: XGBoost가 평균 AUC와 Validation 타깃 효율에서 우세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9B11C7-1444-4ED1-96A7-CA16746B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Test 성능만 보지 않고 Validation, 평균 AUC, Top 10% Lift를 함께 확인했습니다.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E7DD42-F724-4DC6-94E9-D6991927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666750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BFAE7D-9C54-4D9D-B2CC-20BB6FCD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668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1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AUC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7313D-876E-47FE-8173-F4343BF2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515705"/>
            <a:ext cx="400050" cy="22944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1DBD3D-EE6A-4E3F-B4B8-3BD640FF7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537308"/>
            <a:ext cx="400050" cy="22728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9D"/>
          </a:solidFill>
          <a:ln xmlns:a="http://schemas.openxmlformats.org/drawingml/2006/main" w="9525">
            <a:solidFill>
              <a:srgbClr val="2F8F9D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CB791-50F0-4D8A-B67D-C294BAABB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287105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0.860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E5944D-EA58-4352-A51B-2958F8BE6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308708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F8F9D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F8F9D"/>
                </a:solidFill>
                <a:latin typeface="Helvetica"/>
                <a:ea typeface="Helvetica"/>
                <a:cs typeface="Helvetica"/>
              </a:rPr>
              <a:t>0.852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C12EF5-AC00-4166-833E-8A8315755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9244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RF 기본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68A381-CE98-4B8B-8A98-A27872FF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26640"/>
            <a:ext cx="400050" cy="22834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C4D91D-B827-4D3B-8D70-5064B0EF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24773"/>
            <a:ext cx="400050" cy="22853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9D"/>
          </a:solidFill>
          <a:ln xmlns:a="http://schemas.openxmlformats.org/drawingml/2006/main" w="9525">
            <a:solidFill>
              <a:srgbClr val="2F8F9D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F8C26-CB43-4E8E-B734-4AEC0B4A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29804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0.856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1AF6B0-E449-4B11-92AB-D16482B03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296173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F8F9D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F8F9D"/>
                </a:solidFill>
                <a:latin typeface="Helvetica"/>
                <a:ea typeface="Helvetica"/>
                <a:cs typeface="Helvetica"/>
              </a:rPr>
              <a:t>0.857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093E8F-33EB-4980-B2BF-A66186942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9244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RF + FE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15B5D3-4413-4E3F-88B4-282B1DF91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538108"/>
            <a:ext cx="400050" cy="2272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5B8E12-CE8A-4BCC-8FE9-386E55C7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529573"/>
            <a:ext cx="400050" cy="2280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9D"/>
          </a:solidFill>
          <a:ln xmlns:a="http://schemas.openxmlformats.org/drawingml/2006/main" w="9525">
            <a:solidFill>
              <a:srgbClr val="2F8F9D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135473-8E8E-4E3A-B849-CA73FAFA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2309508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0.852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DDD15C-AE5F-46BA-AB6E-8D9974F8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300973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F8F9D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F8F9D"/>
                </a:solidFill>
                <a:latin typeface="Helvetica"/>
                <a:ea typeface="Helvetica"/>
                <a:cs typeface="Helvetica"/>
              </a:rPr>
              <a:t>0.855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58B413-3263-4FD9-8D27-2E2E3B5C3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49244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RF Search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F4A86-B8B3-4FEB-A88B-F320A10F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485034"/>
            <a:ext cx="400050" cy="232509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BB9689-9944-44B9-8231-C9F08A6E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554910"/>
            <a:ext cx="400050" cy="225521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9D"/>
          </a:solidFill>
          <a:ln xmlns:a="http://schemas.openxmlformats.org/drawingml/2006/main" w="9525">
            <a:solidFill>
              <a:srgbClr val="2F8F9D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0035E7-9BEF-4574-AE5D-5CAAC1CE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56434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0.872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93C50CD-D933-4F99-97B8-D4AE86818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32631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2F8F9D"/>
                </a:solidFill>
                <a:latin typeface="Helvetica"/>
                <a:ea typeface="Helvetica"/>
                <a:cs typeface="Helvetica"/>
              </a:defRPr>
            </a:pPr>
            <a:r>
              <a:rPr sz="825" b="1">
                <a:solidFill>
                  <a:srgbClr val="2F8F9D"/>
                </a:solidFill>
                <a:latin typeface="Helvetica"/>
                <a:ea typeface="Helvetica"/>
                <a:cs typeface="Helvetica"/>
              </a:rPr>
              <a:t>0.846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E4B8FB-86A0-41CA-9D25-8753ED1AC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924425"/>
            <a:ext cx="95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900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XGBoost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8AB8E6-8F25-4974-BE66-1303EE75D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145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파랑 Validation  |  청록 Test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15DCAE-8F02-488D-928E-94492ECD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333750" cy="2571750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F4B183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37F21E-6BE9-46CF-B7E4-31CD74FC7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266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ED7D31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ED7D31"/>
                </a:solidFill>
                <a:latin typeface="Helvetica"/>
                <a:ea typeface="Helvetica"/>
                <a:cs typeface="Helvetica"/>
              </a:rPr>
              <a:t>선정 결과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20D1A18-F63B-47A2-BB0F-7EDC0378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28875"/>
            <a:ext cx="2667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XGBoost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평균 AUC 0.8587</a:t>
            </a:r>
          </a:p>
          <a:p xmlns:a="http://schemas.openxmlformats.org/drawingml/2006/main">
            <a:pPr algn="l">
              <a:buNone/>
              <a:def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Validation Lift@10% 3.6667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E559634-F813-4CB3-A54A-501B4F59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10000"/>
            <a:ext cx="2762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97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참고: RF 기본은 Test Lift@10% 3.8202로 더 높았지만, Test를 보고 사후 선택하지 않고 Validation 중심으로 XGBoost를 선택했습니다.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DCF640-2A5B-44DF-BABB-D8613704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은행 고객 이탈 예측 모델 개발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120A388-59FA-402B-971B-0EA84FBE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75063331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3BBC5-29E4-4F6E-A528-9A4E131D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6. XGBoost를 선택한 이유와 약점 관리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79C679-F184-467B-A404-994D71774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약점을 숨긴 것이 아니라, 목적에 맞는 강점을 살리고 운영 전략으로 보완했습니다.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1CFE3D-7CBE-4271-9EA6-0B81300C3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28750"/>
            <a:ext cx="4953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9DC3E6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BBB98-99F5-477B-8290-2A0ED041C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145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2F75B5"/>
                </a:solidFill>
                <a:latin typeface="Helvetica"/>
                <a:ea typeface="Helvetica"/>
                <a:cs typeface="Helvetica"/>
              </a:rPr>
              <a:t>강점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EFD0A4-7F19-4AE3-9946-50691C954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38375"/>
            <a:ext cx="4095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- 비선형 고객 행동 패턴 학습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- Feature 조합과 상호작용 반영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- 이탈확률 순위화와 AUC에 강함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- SHAP으로 예측 근거 설명 가능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00C9CB-047E-4B8A-8A00-473AB73A2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5381625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8F2"/>
          </a:solidFill>
          <a:ln xmlns:a="http://schemas.openxmlformats.org/drawingml/2006/main" w="9525">
            <a:solidFill>
              <a:srgbClr val="F4B183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650A7-869A-4673-AEAF-B63CE08C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71450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ED7D31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ED7D31"/>
                </a:solidFill>
                <a:latin typeface="Helvetica"/>
                <a:ea typeface="Helvetica"/>
                <a:cs typeface="Helvetica"/>
              </a:rPr>
              <a:t>약점과 대응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1FD79E-4871-4E35-99F5-5170D84AA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38375"/>
            <a:ext cx="46672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과적합 위험 → Cross Validation과 Validation 확인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복잡한 구조 → SHAP 해석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Threshold 문제 → 상위 10% 타깃팅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확률 신뢰성 → 운영 결과로 보정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운영 성능 저하 → Drift 모니터링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00018-44F2-4F9E-A0B7-79A7507A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은행 고객 이탈 예측 모델 개발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70DB7B-9DA0-4E93-94FE-C134D3D3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41366072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32CD72-A0F7-41CE-AD3F-3BB8921E7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7. 마케팅 운영: Score를 행동으로 연결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46C040-3DC3-4DE7-AF31-81D4698F4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모델 출력은 확률이고, 캠페인 대상은 예산과 목적에 따라 정합니다.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A1D7D-4674-4397-9910-6325AAD6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0955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6ACD09-62D6-4D8B-8BAE-815DD0713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762125"/>
            <a:ext cx="1333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2B87A2-AD0C-41D5-9685-5511B54C2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192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모델 출력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87718F-D3DE-48F9-BD5B-3F4FE94C7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churn_score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0~1 이탈 확률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E9DE4-9F63-49CF-930D-86A1CB7D1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38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46DB4D-164D-44C2-AC94-E26E2C77B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0955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D7D3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013787-2AA4-4261-B78A-D08A2317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762125"/>
            <a:ext cx="1333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7D31"/>
          </a:solidFill>
          <a:ln xmlns:a="http://schemas.openxmlformats.org/drawingml/2006/main" w="9525">
            <a:solidFill>
              <a:srgbClr val="ED7D3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1BA629-4EF0-449D-B669-17C37B95F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8192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타깃 선정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1831A0-CBA4-4C0D-AA16-EBBC507F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26193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상위 10%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고위험 고객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D52A83-98CD-4A03-9FD7-7F7B29D2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638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249D49-8C23-4700-9AEF-906EFA355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955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70AD47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E7DF54-EF16-487B-9983-0CAFD6340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762125"/>
            <a:ext cx="1333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70AD47"/>
          </a:solidFill>
          <a:ln xmlns:a="http://schemas.openxmlformats.org/drawingml/2006/main" w="9525">
            <a:solidFill>
              <a:srgbClr val="70AD47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013A79-FDD4-47A7-8E79-B4828C6DA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8192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캠페인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F9AC38-6DF1-48E6-93E9-3E6B7A6DA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193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쿠폰·상담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이탈 방지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5D725-5BC9-4F08-946B-B5577117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38425"/>
            <a:ext cx="428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2025" b="1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59846E-9961-42D8-A225-7E226A1C9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286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F8F9D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D7CC399-BCFB-483C-9B35-9655E65E5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762125"/>
            <a:ext cx="1333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8F9D"/>
          </a:solidFill>
          <a:ln xmlns:a="http://schemas.openxmlformats.org/drawingml/2006/main" w="9525">
            <a:solidFill>
              <a:srgbClr val="2F8F9D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AEBF0E-51A4-44E0-B70C-F78C8C62E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819275"/>
            <a:ext cx="133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검증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0FFF03-42CC-4241-8B22-5DEACD5C4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619375"/>
            <a:ext cx="180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실제 이탈률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Lift 재측정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68D972-5938-4879-8559-C78A8902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810125"/>
            <a:ext cx="952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AUC: 전체 순위화 성능  |  Lift: 실제 캠페인 대상군의 효율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F723262-173D-4741-8E35-4F3B78069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은행 고객 이탈 예측 모델 개발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6D8650-68C3-4E0D-934C-82F8647B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5957734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3B28EA-B15A-41B8-8095-340DD7E0C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85750"/>
            <a:ext cx="11144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23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8. SHAP으로 “왜 이 고객인가?” 설명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48E6EF-9A06-47D6-99C5-F25F18925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085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1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전체 Feature 중요도와 개별 고객의 예측 원인을 분리해 해석합니다.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1087BC-F49B-47FD-B802-F7504C79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476375"/>
            <a:ext cx="1009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7D67C-A14F-4787-8F9E-CC86EAFF3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7642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779AC-3D53-4681-B8B8-E6FB9696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335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전체 모델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40D623-785C-4935-9BF8-CACF3DDF1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7430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Feature Importance / SHAP Impact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14269-F1E1-4D5C-84B9-C72EE6D0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12407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어떤 변수가 전반적으로 중요한가?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324F93-6ED3-4D70-B4B7-C0CBA43A5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57500"/>
            <a:ext cx="1009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2F3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9A300B-4FEB-48DF-8926-6BF8DA45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57550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2F75B5"/>
          </a:solidFill>
          <a:ln xmlns:a="http://schemas.openxmlformats.org/drawingml/2006/main" w="9525">
            <a:solidFill>
              <a:srgbClr val="2F75B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681D8F-1962-4EFD-8306-952B6F5E0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14700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관계 분석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AC66C0-4FA7-4B62-A362-EA278469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1242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Dependence Plot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DD71F1-2148-47AE-BE1F-7C62830A8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50520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Feature 값이 변할 때 이탈확률은?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E804A9-7D73-4914-9191-629D7614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38625"/>
            <a:ext cx="100965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3E8"/>
          </a:solidFill>
          <a:ln xmlns:a="http://schemas.openxmlformats.org/drawingml/2006/main" w="9525">
            <a:solidFill>
              <a:srgbClr val="ED7D31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1E982E-137E-4718-AB16-97895344D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38675"/>
            <a:ext cx="14287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D7D31"/>
          </a:solidFill>
          <a:ln xmlns:a="http://schemas.openxmlformats.org/drawingml/2006/main" w="9525">
            <a:solidFill>
              <a:srgbClr val="ED7D31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E0ABF90-14B5-4D6E-8077-1C5E8121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9582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0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개별 고객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B23A39-CBCC-4724-8943-B12B8C40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5053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365D"/>
                </a:solidFill>
                <a:latin typeface="Helvetica"/>
                <a:ea typeface="Helvetica"/>
                <a:cs typeface="Helvetica"/>
              </a:defRPr>
            </a:pPr>
            <a:r>
              <a:rPr sz="1425" b="1">
                <a:solidFill>
                  <a:srgbClr val="17365D"/>
                </a:solidFill>
                <a:latin typeface="Helvetica"/>
                <a:ea typeface="Helvetica"/>
                <a:cs typeface="Helvetica"/>
              </a:rPr>
              <a:t>Force Plot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E8BD73-2750-4A46-BE9A-AF6D71EE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8863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1F2933"/>
                </a:solidFill>
                <a:latin typeface="Helvetica"/>
                <a:ea typeface="Helvetica"/>
                <a:cs typeface="Helvetica"/>
              </a:defRPr>
            </a:pPr>
            <a:r>
              <a:rPr sz="1275" b="0">
                <a:solidFill>
                  <a:srgbClr val="1F2933"/>
                </a:solidFill>
                <a:latin typeface="Helvetica"/>
                <a:ea typeface="Helvetica"/>
                <a:cs typeface="Helvetica"/>
              </a:rPr>
              <a:t>이 고객의 이탈확률이 높은 이유는?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A9B28-10DA-4128-AEC6-8B2C59929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7150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1275" b="1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해석 예시: 평균 이탈확률보다 높은 이유가 비활동 회원과 높은 연령 때문인지 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E7216C-3646-4707-8D16-0DB9B266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96050"/>
            <a:ext cx="666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신용민 | 은행 고객 이탈 예측 모델 개발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7A5993-D930-4B63-BC88-C745B1E8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96050"/>
            <a:ext cx="428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defRPr>
            </a:pPr>
            <a:r>
              <a:rPr sz="825" b="0">
                <a:solidFill>
                  <a:srgbClr val="5B6770"/>
                </a:solidFill>
                <a:latin typeface="Helvetica"/>
                <a:ea typeface="Helvetica"/>
                <a:cs typeface="Helvetic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3470701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736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B4AB52-8003-4422-97D7-FCBB5674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90625"/>
            <a:ext cx="9525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315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마무리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A76D44-0C7A-4465-9968-EDCAD8AA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43125"/>
            <a:ext cx="9525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비즈니스 목적을 먼저 정하고</a:t>
            </a:r>
          </a:p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21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평균 AUC와 상위 타깃 효율을 함께 비교했습니다.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2043AF-9816-49EC-8398-B8F31D481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4C7E7"/>
                </a:solidFill>
                <a:latin typeface="Helvetica"/>
                <a:ea typeface="Helvetica"/>
                <a:cs typeface="Helvetica"/>
              </a:defRPr>
            </a:pPr>
            <a:r>
              <a:rPr sz="1350" b="1">
                <a:solidFill>
                  <a:srgbClr val="B4C7E7"/>
                </a:solidFill>
                <a:latin typeface="Helvetica"/>
                <a:ea typeface="Helvetica"/>
                <a:cs typeface="Helvetica"/>
              </a:rPr>
              <a:t>최종 메시지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885D99-5599-4555-AC9B-9789B2F1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333875"/>
            <a:ext cx="1000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좋은 모델은 가장 복잡한 모델이 아니라</a:t>
            </a:r>
          </a:p>
          <a:p xmlns:a="http://schemas.openxmlformats.org/drawingml/2006/main">
            <a:pPr algn="l">
              <a:buNone/>
              <a:def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FFFFFF"/>
                </a:solidFill>
                <a:latin typeface="Helvetica"/>
                <a:ea typeface="Helvetica"/>
                <a:cs typeface="Helvetica"/>
              </a:rPr>
              <a:t>목적에 맞고, 설명할 수 있고, 다시 실행할 수 있는 모델입니다.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E540A5-83D4-41FB-B801-E643CB852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810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4C7E7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B4C7E7"/>
                </a:solidFill>
                <a:latin typeface="Helvetica"/>
                <a:ea typeface="Helvetica"/>
                <a:cs typeface="Helvetica"/>
              </a:rPr>
              <a:t>감사합니다</a:t>
            </a:r>
          </a:p>
        </p:txBody>
      </p:sp>
    </p:spTree>
    <p:extLst>
      <p:ext uri="{BB962C8B-B14F-4D97-AF65-F5344CB8AC3E}">
        <p14:creationId xmlns:p14="http://schemas.microsoft.com/office/powerpoint/2010/main" val="12210630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2026-09-11T06:25:37.7580000Z</dcterms:created>
  <dcterms:modified xsi:type="dcterms:W3CDTF">2026-09-11T06:25:37.7580000Z</dcterms:modified>
</coreProperties>
</file>